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0:00–0:35. Представьте приложение и задачу. Все восемь этапов объединены в один серверный Go-проект. Пользователи ведут собственные расходы, анализируют их и планируют бюджет. Назовите опубликованный адрес.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0:35–1:25. Покажите регистрацию и вход, затем готовую историю. Добавьте небольшую трату, измените описание, откройте подтверждение удаления и отмените. Примените категорию и даты. Откройте статистику и CSV. Все данные принадлежат текущему пользователю.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1:25–2:20. Проследите запрос: HTTPS/Caddy → net/http → middleware → handler → repository → SQLite. Объясните ResponseWriter и коды ответа. HTML формируют шаблоны с общим layout; после успешного POST — 303. Временный срез этапа 2 заменён SQLite на этапе 3. SQL находится только в репозиториях.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2:20–3:20. Деньги — int64 в копейках, 0.10 + 0.20 = 0.30. JOIN исключает N+1, SUM/GROUP BY считают статистику в БД. Пароль — bcrypt, cookie содержит случайный токен, в базе HMAC. Middleware проверяет срок сессии и передаёт пользователя через context. Чужой ID даёт 404. Расскажите о CSRF, экранировании HTML и отзыве сессии при выходе.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3:20–4:35. Покажите бюджет с превышением. Создайте месячную подписку на сегодня — запись появится сразу. Пауза пропускает даты; завершённое расписание можно отредактировать. Транзакция и уникальная пара расписание/дата предотвращают дубли даже после рестарта; удаление сохраняет историю. Покажите тёмную тему. Docker — реальный способ запуска опубликованного сайта.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4:35–5:40. Покажите Go-тесты, go vet и GitHub Actions с race detector, сборкой Docker и HTTP smoke. Smoke создаёт двух пользователей и проходит весь путь плюс дополнительные функции. Отдельно проверяются пустые списки, неверные суммы и даты, 404/500, XSS, CSRF, CSV-формулы. Для расписаний проверены 31-е число, 29 февраля, конкурентные запуски и откат SQL-ошибки. Миграция старой базы сохраняет расходы. Покажите реальный JSON-лог из verification.md.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5:40–6:40. Откройте публичный сайт и покажите ключевые экраны. Назовите репозиторий и README. Кратко объясните запуск через go run . и docker compose up --build -d. Все инструкции и проверка каждого пункта ТЗ находятся в docs. Завершите вопросами преподавателя.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182880"/>
          </a:xfrm>
          <a:prstGeom prst="rect">
            <a:avLst/>
          </a:prstGeom>
          <a:solidFill>
            <a:srgbClr val="117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17665"/>
                </a:solidFill>
                <a:latin typeface="Arial"/>
              </a:defRPr>
            </a:pPr>
            <a:r>
              <a:t>01 / ЗАДАЧА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200" b="1">
                <a:solidFill>
                  <a:srgbClr val="243C33"/>
                </a:solidFill>
                <a:latin typeface="Arial"/>
              </a:defRPr>
            </a:pPr>
            <a:r>
              <a:t>Личные расходы — в понятной системе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91656"/>
            <a:ext cx="10881360" cy="10972"/>
          </a:xfrm>
          <a:prstGeom prst="rect">
            <a:avLst/>
          </a:prstGeom>
          <a:solidFill>
            <a:srgbClr val="DD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ТРАТЫ  /  СЕМЕСТРОВЫЙ ПРОЕКТ НА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01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4297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5400" b="1">
                <a:solidFill>
                  <a:srgbClr val="117665"/>
                </a:solidFill>
                <a:latin typeface="Arial"/>
              </a:defRPr>
            </a:pPr>
            <a:r>
              <a:t>траты.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01752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600" b="1">
                <a:solidFill>
                  <a:srgbClr val="243C33"/>
                </a:solidFill>
                <a:latin typeface="Arial"/>
              </a:defRPr>
            </a:pPr>
            <a:r>
              <a:t>Записывать. Понимать.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600" b="1">
                <a:solidFill>
                  <a:srgbClr val="243C33"/>
                </a:solidFill>
                <a:latin typeface="Arial"/>
              </a:defRPr>
            </a:pPr>
            <a:r>
              <a:t>Планировать.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297680"/>
            <a:ext cx="4114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607260"/>
                </a:solidFill>
                <a:latin typeface="Arial"/>
              </a:defRPr>
            </a:pPr>
            <a:r>
              <a:t>8 этапов + 4 дополнительных задания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607260"/>
                </a:solidFill>
                <a:latin typeface="Arial"/>
              </a:defRPr>
            </a:pPr>
            <a:r>
              <a:t>Go · SQLite · серверный 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4864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1">
                <a:solidFill>
                  <a:srgbClr val="117665"/>
                </a:solidFill>
                <a:latin typeface="Arial"/>
              </a:defRPr>
            </a:pPr>
            <a:r>
              <a:t>integradar.org</a:t>
            </a:r>
          </a:p>
        </p:txBody>
      </p:sp>
      <p:pic>
        <p:nvPicPr>
          <p:cNvPr id="13" name="Picture 12" descr="expen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845066"/>
            <a:ext cx="6675120" cy="417370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182880"/>
          </a:xfrm>
          <a:prstGeom prst="rect">
            <a:avLst/>
          </a:prstGeom>
          <a:solidFill>
            <a:srgbClr val="117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17665"/>
                </a:solidFill>
                <a:latin typeface="Arial"/>
              </a:defRPr>
            </a:pPr>
            <a:r>
              <a:t>02 / ПОЛЬЗОВАТЕЛЬСКИЙ СЦЕНАРИЙ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200" b="1">
                <a:solidFill>
                  <a:srgbClr val="243C33"/>
                </a:solidFill>
                <a:latin typeface="Arial"/>
              </a:defRPr>
            </a:pPr>
            <a:r>
              <a:t>От первой записи до общей картины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91656"/>
            <a:ext cx="10881360" cy="10972"/>
          </a:xfrm>
          <a:prstGeom prst="rect">
            <a:avLst/>
          </a:prstGeom>
          <a:solidFill>
            <a:srgbClr val="DD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ТРАТЫ  /  СЕМЕСТРОВЫЙ ПРОЕКТ НА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02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17665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97510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Регистрация и вход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39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17665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84378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Добавление и изменение трат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70332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17665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71246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Категория + период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572000"/>
            <a:ext cx="640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1">
                <a:solidFill>
                  <a:srgbClr val="117665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581144"/>
            <a:ext cx="31089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Графики и CSV</a:t>
            </a:r>
          </a:p>
        </p:txBody>
      </p:sp>
      <p:pic>
        <p:nvPicPr>
          <p:cNvPr id="17" name="Picture 16" descr="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1856472"/>
            <a:ext cx="6858000" cy="42880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182880"/>
          </a:xfrm>
          <a:prstGeom prst="rect">
            <a:avLst/>
          </a:prstGeom>
          <a:solidFill>
            <a:srgbClr val="117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17665"/>
                </a:solidFill>
                <a:latin typeface="Arial"/>
              </a:defRPr>
            </a:pPr>
            <a:r>
              <a:t>03 / АРХИТЕКТУРА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200" b="1">
                <a:solidFill>
                  <a:srgbClr val="243C33"/>
                </a:solidFill>
                <a:latin typeface="Arial"/>
              </a:defRPr>
            </a:pPr>
            <a:r>
              <a:t>У каждого слоя — своя задача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91656"/>
            <a:ext cx="10881360" cy="10972"/>
          </a:xfrm>
          <a:prstGeom prst="rect">
            <a:avLst/>
          </a:prstGeom>
          <a:solidFill>
            <a:srgbClr val="DD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ТРАТЫ  /  СЕМЕСТРОВЫЙ ПРОЕКТ НА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03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65960"/>
            <a:ext cx="2514600" cy="1188720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2212848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Браузер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HTML / fetch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2111" y="230428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26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10711" y="1965960"/>
            <a:ext cx="2514600" cy="1188720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93591" y="2212848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Go HTTP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Middleware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52744" y="230428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26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81344" y="1965960"/>
            <a:ext cx="2514600" cy="1188720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64224" y="2212848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Handlers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Валидация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23376" y="2304288"/>
            <a:ext cx="274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26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51976" y="1965960"/>
            <a:ext cx="2514600" cy="1188720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34855" y="2212848"/>
            <a:ext cx="214884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Repository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SQLite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19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html/template + layout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Экранирование данных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Post/Redirect/Get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7033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ДАННЫЕ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25196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database/sql + миграции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Параметры SQL через ?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Связи и индексы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37033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100" b="1">
                <a:solidFill>
                  <a:srgbClr val="117665"/>
                </a:solidFill>
                <a:latin typeface="Arial"/>
              </a:defRPr>
            </a:pPr>
            <a:r>
              <a:t>ИНФРАСТРУКТУРА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25196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Docker + постоянная БД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.env и graceful shutdown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Caddy + HTTPS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182880"/>
          </a:xfrm>
          <a:prstGeom prst="rect">
            <a:avLst/>
          </a:prstGeom>
          <a:solidFill>
            <a:srgbClr val="117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17665"/>
                </a:solidFill>
                <a:latin typeface="Arial"/>
              </a:defRPr>
            </a:pPr>
            <a:r>
              <a:t>04 / ТЕХНИЧЕСКИЕ РЕШЕНИЯ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200" b="1">
                <a:solidFill>
                  <a:srgbClr val="243C33"/>
                </a:solidFill>
                <a:latin typeface="Arial"/>
              </a:defRPr>
            </a:pPr>
            <a:r>
              <a:t>Точность данных и разделение доступа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91656"/>
            <a:ext cx="10881360" cy="10972"/>
          </a:xfrm>
          <a:prstGeom prst="rect">
            <a:avLst/>
          </a:prstGeom>
          <a:solidFill>
            <a:srgbClr val="DD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ТРАТЫ  /  СЕМЕСТРОВЫЙ ПРОЕКТ НА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04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17665"/>
                </a:solidFill>
                <a:latin typeface="Arial"/>
              </a:defRPr>
            </a:pPr>
            <a:r>
              <a:t>Целые копейки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Точный разбор сумм;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округление не накапливается.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92024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305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17665"/>
                </a:solidFill>
                <a:latin typeface="Arial"/>
              </a:defRPr>
            </a:pPr>
            <a:r>
              <a:t>JOIN + SUM / GROUP BY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743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Категории без N+1;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агрегации выполняет SQLite.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17665"/>
                </a:solidFill>
                <a:latin typeface="Arial"/>
              </a:defRPr>
            </a:pPr>
            <a:r>
              <a:t>Сессии и bcrypt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Срок действия, отзыв, HttpOnly;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user_id только из контекста.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4023360"/>
            <a:ext cx="53035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2336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17665"/>
                </a:solidFill>
                <a:latin typeface="Arial"/>
              </a:defRPr>
            </a:pPr>
            <a:r>
              <a:t>Проверка каждого запроса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8463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Серверная валидация, CSRF;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чужие записи недоступны.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182880"/>
          </a:xfrm>
          <a:prstGeom prst="rect">
            <a:avLst/>
          </a:prstGeom>
          <a:solidFill>
            <a:srgbClr val="117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17665"/>
                </a:solidFill>
                <a:latin typeface="Arial"/>
              </a:defRPr>
            </a:pPr>
            <a:r>
              <a:t>05 / ДОПОЛНИТЕЛЬНЫЕ ЗАДАНИЯ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200" b="1">
                <a:solidFill>
                  <a:srgbClr val="243C33"/>
                </a:solidFill>
                <a:latin typeface="Arial"/>
              </a:defRPr>
            </a:pPr>
            <a:r>
              <a:t>Все четыре возможности работают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91656"/>
            <a:ext cx="10881360" cy="10972"/>
          </a:xfrm>
          <a:prstGeom prst="rect">
            <a:avLst/>
          </a:prstGeom>
          <a:solidFill>
            <a:srgbClr val="DD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ТРАТЫ  /  СЕМЕСТРОВЫЙ ПРОЕКТ НА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05 / 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920240"/>
            <a:ext cx="5303520" cy="1828800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1305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17665"/>
                </a:solidFill>
                <a:latin typeface="Arial"/>
              </a:defRPr>
            </a:pPr>
            <a:r>
              <a:t>01 / Бюджеты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743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Лимит категории на месяц.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Остаток и предупреждение.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1920240"/>
            <a:ext cx="5303520" cy="1828800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8232" y="213055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17665"/>
                </a:solidFill>
                <a:latin typeface="Arial"/>
              </a:defRPr>
            </a:pPr>
            <a:r>
              <a:t>02 / Регулярные траты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743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День, неделя, месяц, год.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Пауза, окончание, без дублей.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303520" cy="1828800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2336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17665"/>
                </a:solidFill>
                <a:latin typeface="Arial"/>
              </a:defRPr>
            </a:pPr>
            <a:r>
              <a:t>03 / Тёмная тема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8463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Светлая, тёмная, системная.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Выбор сохраняется в браузере.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4023360"/>
            <a:ext cx="5303520" cy="1828800"/>
          </a:xfrm>
          <a:prstGeom prst="rect">
            <a:avLst/>
          </a:prstGeom>
          <a:solidFill>
            <a:srgbClr val="EAF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233672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400" b="1">
                <a:solidFill>
                  <a:srgbClr val="117665"/>
                </a:solidFill>
                <a:latin typeface="Arial"/>
              </a:defRPr>
            </a:pPr>
            <a:r>
              <a:t>04 / Docker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84632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Non-root, volume, healthcheck.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243C33"/>
                </a:solidFill>
                <a:latin typeface="Arial"/>
              </a:defRPr>
            </a:pPr>
            <a:r>
              <a:t>Проверка чистой БД в CI.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182880"/>
          </a:xfrm>
          <a:prstGeom prst="rect">
            <a:avLst/>
          </a:prstGeom>
          <a:solidFill>
            <a:srgbClr val="117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17665"/>
                </a:solidFill>
                <a:latin typeface="Arial"/>
              </a:defRPr>
            </a:pPr>
            <a:r>
              <a:t>06 / ПРОВЕРКА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200" b="1">
                <a:solidFill>
                  <a:srgbClr val="243C33"/>
                </a:solidFill>
                <a:latin typeface="Arial"/>
              </a:defRPr>
            </a:pPr>
            <a:r>
              <a:t>Проверены сценарии и границы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91656"/>
            <a:ext cx="10881360" cy="10972"/>
          </a:xfrm>
          <a:prstGeom prst="rect">
            <a:avLst/>
          </a:prstGeom>
          <a:solidFill>
            <a:srgbClr val="DD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ТРАТЫ  /  СЕМЕСТРОВЫЙ ПРОЕКТ НА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06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17665"/>
                </a:solidFill>
                <a:latin typeface="Arial"/>
              </a:defRPr>
            </a:pPr>
            <a:r>
              <a:t>АВТОМАТИЗАЦИЯ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06040"/>
            <a:ext cx="51206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243C33"/>
                </a:solidFill>
                <a:latin typeface="Arial"/>
              </a:defRPr>
            </a:pPr>
            <a:r>
              <a:t>go test -race -cover ./...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243C33"/>
                </a:solidFill>
                <a:latin typeface="Arial"/>
              </a:defRPr>
            </a:pPr>
            <a:r>
              <a:t>go vet ./...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300" b="0">
                <a:solidFill>
                  <a:srgbClr val="243C33"/>
                </a:solidFill>
                <a:latin typeface="Arial"/>
              </a:defRPr>
            </a:pPr>
            <a:r>
              <a:t>Docker build + HTTP smoke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260"/>
                </a:solidFill>
                <a:latin typeface="Arial"/>
              </a:defRPr>
            </a:pPr>
            <a:r>
              <a:t>Два аккаунта: CRUD, фильтры, API,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000" b="0">
                <a:solidFill>
                  <a:srgbClr val="607260"/>
                </a:solidFill>
                <a:latin typeface="Arial"/>
              </a:defRPr>
            </a:pPr>
            <a:r>
              <a:t>CSV, бюджеты, расписания, тема.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920240"/>
            <a:ext cx="5257800" cy="4160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219456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1">
                <a:solidFill>
                  <a:srgbClr val="117665"/>
                </a:solidFill>
                <a:latin typeface="Arial"/>
              </a:defRPr>
            </a:pPr>
            <a:r>
              <a:t>ГРАНИЧНЫЕ СЛУЧАИ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926080"/>
            <a:ext cx="45720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2200" b="0">
                <a:solidFill>
                  <a:srgbClr val="243C33"/>
                </a:solidFill>
                <a:latin typeface="Arial"/>
              </a:defRPr>
            </a:pPr>
            <a:r>
              <a:t>Пустой список и неверный ввод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200" b="0">
                <a:solidFill>
                  <a:srgbClr val="243C33"/>
                </a:solidFill>
                <a:latin typeface="Arial"/>
              </a:defRPr>
            </a:pPr>
            <a:r>
              <a:t>Чужой ID, истёкшая сессия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200" b="0">
                <a:solidFill>
                  <a:srgbClr val="243C33"/>
                </a:solidFill>
                <a:latin typeface="Arial"/>
              </a:defRPr>
            </a:pPr>
            <a:r>
              <a:t>31-е число и 29 февраля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200" b="0">
                <a:solidFill>
                  <a:srgbClr val="243C33"/>
                </a:solidFill>
                <a:latin typeface="Arial"/>
              </a:defRPr>
            </a:pPr>
            <a:r>
              <a:t>Повторный запуск без дублей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2200" b="0">
                <a:solidFill>
                  <a:srgbClr val="243C33"/>
                </a:solidFill>
                <a:latin typeface="Arial"/>
              </a:defRPr>
            </a:pPr>
            <a:r>
              <a:t>Обновление существующей БД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57200"/>
            <a:ext cx="73152" cy="182880"/>
          </a:xfrm>
          <a:prstGeom prst="rect">
            <a:avLst/>
          </a:prstGeom>
          <a:solidFill>
            <a:srgbClr val="1176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4297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000" b="1">
                <a:solidFill>
                  <a:srgbClr val="117665"/>
                </a:solidFill>
                <a:latin typeface="Arial"/>
              </a:defRPr>
            </a:pPr>
            <a:r>
              <a:t>07 / РЕЗУЛЬТАТ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200" b="1">
                <a:solidFill>
                  <a:srgbClr val="243C33"/>
                </a:solidFill>
                <a:latin typeface="Arial"/>
              </a:defRPr>
            </a:pPr>
            <a:r>
              <a:t>Готово к запуску и демонстрации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91656"/>
            <a:ext cx="10881360" cy="10972"/>
          </a:xfrm>
          <a:prstGeom prst="rect">
            <a:avLst/>
          </a:prstGeom>
          <a:solidFill>
            <a:srgbClr val="DDE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537960"/>
            <a:ext cx="9144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ТРАТЫ  /  СЕМЕСТРОВЫЙ ПРОЕКТ НА 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53796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900" b="0">
                <a:solidFill>
                  <a:srgbClr val="607260"/>
                </a:solidFill>
                <a:latin typeface="Arial"/>
              </a:defRPr>
            </a:pPr>
            <a:r>
              <a:t>07 /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3000" b="1">
                <a:solidFill>
                  <a:srgbClr val="117665"/>
                </a:solidFill>
                <a:latin typeface="Arial"/>
              </a:defRPr>
            </a:pPr>
            <a:r>
              <a:t>integradar.org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800" b="0">
                <a:solidFill>
                  <a:srgbClr val="243C33"/>
                </a:solidFill>
                <a:latin typeface="Arial"/>
              </a:defRPr>
            </a:pPr>
            <a:r>
              <a:t>github.com/El1syum/tksu_pl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420624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defRPr sz="1900" b="0">
                <a:solidFill>
                  <a:srgbClr val="607260"/>
                </a:solidFill>
                <a:latin typeface="Arial"/>
              </a:defRPr>
            </a:pPr>
            <a:r>
              <a:t>README: запуск и база проекта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900" b="0">
                <a:solidFill>
                  <a:srgbClr val="607260"/>
                </a:solidFill>
                <a:latin typeface="Arial"/>
              </a:defRPr>
            </a:pPr>
            <a:r>
              <a:t>Аудит каждого пункта ТЗ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900" b="0">
                <a:solidFill>
                  <a:srgbClr val="607260"/>
                </a:solidFill>
                <a:latin typeface="Arial"/>
              </a:defRPr>
            </a:pPr>
            <a:r>
              <a:t>Презентация и сценарий защиты</a:t>
            </a:r>
          </a:p>
          <a:p>
            <a:pPr>
              <a:lnSpc>
                <a:spcPct val="120000"/>
              </a:lnSpc>
              <a:spcAft>
                <a:spcPts val="0"/>
              </a:spcAft>
              <a:defRPr sz="1900" b="0">
                <a:solidFill>
                  <a:srgbClr val="607260"/>
                </a:solidFill>
                <a:latin typeface="Arial"/>
              </a:defRPr>
            </a:pPr>
            <a:r>
              <a:t>Тесты и скриншоты</a:t>
            </a:r>
          </a:p>
        </p:txBody>
      </p:sp>
      <p:pic>
        <p:nvPicPr>
          <p:cNvPr id="12" name="Picture 11" descr="dark-the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896513"/>
            <a:ext cx="6583680" cy="41165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Траты — учёт личных расходов</dc:title>
  <dc:subject>Защита семестрового проекта по Go</dc:subject>
  <dc:creator>El1syum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